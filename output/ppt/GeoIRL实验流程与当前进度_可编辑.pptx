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5a054aefc54b70" /><Relationship Type="http://schemas.openxmlformats.org/officeDocument/2006/relationships/extended-properties" Target="/docProps/app.xml" Id="R6798dc33c7074f6f" /><Relationship Type="http://schemas.openxmlformats.org/officeDocument/2006/relationships/officeDocument" Target="/ppt/presentation.xml" Id="Rffb0a8d992b343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0ab875b66c4042"/>
  </p:sldMasterIdLst>
  <p:notesMasterIdLst>
    <p:notesMasterId xmlns:r="http://schemas.openxmlformats.org/officeDocument/2006/relationships" r:id="Rdf30d2d3f3174215"/>
  </p:notesMasterIdLst>
  <p:sldIdLst>
    <p:sldId xmlns:r="http://schemas.openxmlformats.org/officeDocument/2006/relationships" id="256" r:id="R98a70a42146e45ba"/>
  </p:sldIdLst>
  <p:sldSz cx="8572500" cy="1428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596451c2fb40fe" /><Relationship Type="http://schemas.openxmlformats.org/officeDocument/2006/relationships/slideMaster" Target="/ppt/slideMasters/slideMaster1.xml" Id="Raa0ab875b66c4042" /><Relationship Type="http://schemas.openxmlformats.org/officeDocument/2006/relationships/notesMaster" Target="/ppt/notesMasters/notesMaster1.xml" Id="Rdf30d2d3f3174215" /><Relationship Type="http://schemas.openxmlformats.org/officeDocument/2006/relationships/presProps" Target="/ppt/presProps.xml" Id="R4622d7f14c3b469a" /><Relationship Type="http://schemas.openxmlformats.org/officeDocument/2006/relationships/tableStyles" Target="/ppt/tableStyles.xml" Id="R539a4cd1b0a04a8f" /><Relationship Type="http://schemas.openxmlformats.org/officeDocument/2006/relationships/slide" Target="/ppt/slides/slide1.xml" Id="R98a70a42146e45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7f6ec5a78749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ffd95d18864f9e" /><Relationship Type="http://schemas.openxmlformats.org/officeDocument/2006/relationships/notesMaster" Target="/ppt/notesMasters/notesMaster1.xml" Id="Re44541bd7ea846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依据论文《Generating geospatial trajectories with incomplete data using graph inverse reinforcement learning》第2、3节及本地官方代码。</a:t>
            </a:r>
          </a:p>
          <a:p xmlns:a="http://schemas.openxmlformats.org/drawingml/2006/main">
            <a:r>
              <a:t>论文：D:/CCNU/PreLearning_Plan/GeoAI-Learning/papers/Generating geospatial trajectories with incomplete data using graph inverse reinforcement learning.pdf</a:t>
            </a:r>
          </a:p>
          <a:p xmlns:a="http://schemas.openxmlformats.org/drawingml/2006/main">
            <a:r>
              <a:t>代码：D:/CCNU/PreLearning_Plan/GeoAI-Learning/rl-geoirl/thirdparty/geoirl-official/IRL_deep.ipynb</a:t>
            </a:r>
          </a:p>
          <a:p xmlns:a="http://schemas.openxmlformats.org/drawingml/2006/main">
            <a:r>
              <a:t>进度依据：G00—G03学习笔记与实际实现文件，核对日期2026-10-12。G03理论已开展，geoirl/irl.py 尚未完成软策略函数。图中步骤是论文流程，非个人已经顺序完成的阶段。</a:t>
            </a:r>
          </a:p>
          <a:p xmlns:a="http://schemas.openxmlformats.org/drawingml/2006/main">
            <a:r>
              <a:t>第2步的多维聚类指按各特征阈值分别分组，将访问信息传播到建筑状态空间。官方仓库主要读取预处理后的特征矩阵。</a:t>
            </a:r>
          </a:p>
          <a:p xmlns:a="http://schemas.openxmlformats.org/drawingml/2006/main">
            <a:r>
              <a:t>第3步四个模型是IRL中的奖励函数近似器，GCN和GraphConv利用转移图，Linear和MLP是对照。第4步主notebook先计算价值，再与转移矩阵结合形成采样策略。第5步包含三种终点配置、Untrained对照、城市干预及敏感性实验。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15533498b47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a0fb30ee1d48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25496c5b04f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cbb5900ede48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a25f3f10c349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097b2f31847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2A4115-67CA-4663-8534-785DA9FD33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5397500"/>
            <a:ext cx="6858000" cy="206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3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9C0A84-3E8A-4AFE-B30B-898F7D36E3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5875" y="7858125"/>
            <a:ext cx="600075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7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009C20-1605-42A7-92CE-D312C0E834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5953125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CCC48A-3708-4298-95C0-31A93063A2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2203" y="1111250"/>
            <a:ext cx="7608094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B290ADF-9AD7-4389-AD5F-B1BED13F5E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2203" y="3968750"/>
            <a:ext cx="7608094" cy="889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0734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1pPr>
            <a:lvl2pPr marL="375047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2pPr>
            <a:lvl3pPr marL="589359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3pPr>
            <a:lvl4pPr marL="803672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4pPr>
            <a:lvl5pPr marL="1017984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5pPr>
            <a:lvl6pPr marL="1232297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6pPr>
            <a:lvl7pPr marL="1446609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7pPr>
            <a:lvl8pPr marL="1660922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8pPr>
            <a:lvl9pPr marL="1875234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764097-544E-44EE-90E9-17344F50AE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2203" y="1111250"/>
            <a:ext cx="7608094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9AA491-513E-4F7D-98DC-412E1AD59F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2203" y="3968750"/>
            <a:ext cx="3536156" cy="889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7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0734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1pPr>
            <a:lvl2pPr marL="375047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2pPr>
            <a:lvl3pPr marL="589359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3pPr>
            <a:lvl4pPr marL="803672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4pPr>
            <a:lvl5pPr marL="1017984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5pPr>
            <a:lvl6pPr marL="1232297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6pPr>
            <a:lvl7pPr marL="1446609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7pPr>
            <a:lvl8pPr marL="1660922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8pPr>
            <a:lvl9pPr marL="1875234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5FFD99B-13BD-4423-B15F-3707A35B4A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54141" y="3968750"/>
            <a:ext cx="3536156" cy="889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7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0734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1pPr>
            <a:lvl2pPr marL="375047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2pPr>
            <a:lvl3pPr marL="589359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3pPr>
            <a:lvl4pPr marL="803672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4pPr>
            <a:lvl5pPr marL="1017984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5pPr>
            <a:lvl6pPr marL="1232297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6pPr>
            <a:lvl7pPr marL="1446609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7pPr>
            <a:lvl8pPr marL="1660922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8pPr>
            <a:lvl9pPr marL="1875234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28F6F8-1507-4F98-B3AB-3A23AD76C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2203" y="1111250"/>
            <a:ext cx="7608094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B846E5-C9D7-4BD9-BD96-997D9D5C23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2203" y="3968750"/>
            <a:ext cx="3536156" cy="889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0734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1pPr>
            <a:lvl2pPr marL="375047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2pPr>
            <a:lvl3pPr marL="589359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3pPr>
            <a:lvl4pPr marL="803672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4pPr>
            <a:lvl5pPr marL="1017984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5pPr>
            <a:lvl6pPr marL="1232297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6pPr>
            <a:lvl7pPr marL="1446609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7pPr>
            <a:lvl8pPr marL="1660922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8pPr>
            <a:lvl9pPr marL="1875234" indent="-160734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f044dd6bfc43fc" /><Relationship Type="http://schemas.openxmlformats.org/officeDocument/2006/relationships/slideLayout" Target="/ppt/slideLayouts/slideLayout1.xml" Id="R122caf1ea73f4dac" /><Relationship Type="http://schemas.openxmlformats.org/officeDocument/2006/relationships/slideLayout" Target="/ppt/slideLayouts/slideLayout2.xml" Id="R99f6ae11295e462a" /><Relationship Type="http://schemas.openxmlformats.org/officeDocument/2006/relationships/slideLayout" Target="/ppt/slideLayouts/slideLayout3.xml" Id="Rbf55aa6e317d42d0" /><Relationship Type="http://schemas.openxmlformats.org/officeDocument/2006/relationships/slideLayout" Target="/ppt/slideLayouts/slideLayout4.xml" Id="R5e7b8adb220743a5" /><Relationship Type="http://schemas.openxmlformats.org/officeDocument/2006/relationships/slideLayout" Target="/ppt/slideLayouts/slideLayout5.xml" Id="R4babedacf3bb4416" /><Relationship Type="http://schemas.openxmlformats.org/officeDocument/2006/relationships/slideLayout" Target="/ppt/slideLayouts/slideLayout6.xml" Id="R3edb7b53e15e46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caf1ea73f4dac"/>
    <p:sldLayoutId xmlns:r="http://schemas.openxmlformats.org/officeDocument/2006/relationships" id="2147483650" r:id="R99f6ae11295e462a"/>
    <p:sldLayoutId xmlns:r="http://schemas.openxmlformats.org/officeDocument/2006/relationships" id="2147483651" r:id="Rbf55aa6e317d42d0"/>
    <p:sldLayoutId xmlns:r="http://schemas.openxmlformats.org/officeDocument/2006/relationships" id="2147483652" r:id="R5e7b8adb220743a5"/>
    <p:sldLayoutId xmlns:r="http://schemas.openxmlformats.org/officeDocument/2006/relationships" id="2147483653" r:id="R4babedacf3bb4416"/>
    <p:sldLayoutId xmlns:r="http://schemas.openxmlformats.org/officeDocument/2006/relationships" id="2147483654" r:id="R3edb7b53e15e46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df4738bcd747d2" /><Relationship Type="http://schemas.openxmlformats.org/officeDocument/2006/relationships/notesSlide" Target="/ppt/notesSlides/notesSlide1.xml" Id="Rccc22c645fc94f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标题">
            <a:extLst xmlns:a="http://schemas.openxmlformats.org/drawingml/2006/main">
              <a:ext uri="{FF2B5EF4-FFF2-40B4-BE49-F238E27FC236}">
                <a16:creationId xmlns:a16="http://schemas.microsoft.com/office/drawing/2014/main" id="{92469361-C574-45A6-B945-89F43716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772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450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rPr>
              <a:t>GeoIRL 论文实验流程</a:t>
            </a:r>
          </a:p>
        </p:txBody>
      </p:sp>
      <p:sp>
        <p:nvSpPr>
          <p:cNvPr id="2" name="副标题">
            <a:extLst xmlns:a="http://schemas.openxmlformats.org/drawingml/2006/main">
              <a:ext uri="{FF2B5EF4-FFF2-40B4-BE49-F238E27FC236}">
                <a16:creationId xmlns:a16="http://schemas.microsoft.com/office/drawing/2014/main" id="{E9B2422E-C1F7-4450-A49C-9D858C31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42975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rPr>
              <a:t>稀疏出行观测下的建筑奖励学习与轨迹生成</a:t>
            </a:r>
          </a:p>
        </p:txBody>
      </p:sp>
      <p:sp>
        <p:nvSpPr>
          <p:cNvPr id="3" name="步骤1框">
            <a:extLst xmlns:a="http://schemas.openxmlformats.org/drawingml/2006/main">
              <a:ext uri="{FF2B5EF4-FFF2-40B4-BE49-F238E27FC236}">
                <a16:creationId xmlns:a16="http://schemas.microsoft.com/office/drawing/2014/main" id="{0193ECB7-E6AC-4EED-8D8E-C5567823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62100"/>
            <a:ext cx="78867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9ADE"/>
            </a:solidFill>
            <a:prstDash val="solid"/>
          </a:ln>
        </p:spPr>
      </p:sp>
      <p:sp>
        <p:nvSpPr>
          <p:cNvPr id="4" name="步骤1标题背景">
            <a:extLst xmlns:a="http://schemas.openxmlformats.org/drawingml/2006/main">
              <a:ext uri="{FF2B5EF4-FFF2-40B4-BE49-F238E27FC236}">
                <a16:creationId xmlns:a16="http://schemas.microsoft.com/office/drawing/2014/main" id="{71D4D829-B607-46C6-A153-9BA80497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81150"/>
            <a:ext cx="7848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步骤1编号">
            <a:extLst xmlns:a="http://schemas.openxmlformats.org/drawingml/2006/main">
              <a:ext uri="{FF2B5EF4-FFF2-40B4-BE49-F238E27FC236}">
                <a16:creationId xmlns:a16="http://schemas.microsoft.com/office/drawing/2014/main" id="{8804BE2F-EE93-46E3-A664-DB02A099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85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9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步骤1编号文字">
            <a:extLst xmlns:a="http://schemas.openxmlformats.org/drawingml/2006/main">
              <a:ext uri="{FF2B5EF4-FFF2-40B4-BE49-F238E27FC236}">
                <a16:creationId xmlns:a16="http://schemas.microsoft.com/office/drawing/2014/main" id="{337C9A10-7B16-4E93-8EA0-FBF07957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步骤1标题">
            <a:extLst xmlns:a="http://schemas.openxmlformats.org/drawingml/2006/main">
              <a:ext uri="{FF2B5EF4-FFF2-40B4-BE49-F238E27FC236}">
                <a16:creationId xmlns:a16="http://schemas.microsoft.com/office/drawing/2014/main" id="{2144DCD7-1FEB-49CF-9200-10BBF2CC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85925"/>
            <a:ext cx="6886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rPr>
              <a:t>数据输入与预处理</a:t>
            </a:r>
          </a:p>
        </p:txBody>
      </p:sp>
      <p:sp>
        <p:nvSpPr>
          <p:cNvPr id="8" name="数据来源">
            <a:extLst xmlns:a="http://schemas.openxmlformats.org/drawingml/2006/main">
              <a:ext uri="{FF2B5EF4-FFF2-40B4-BE49-F238E27FC236}">
                <a16:creationId xmlns:a16="http://schemas.microsoft.com/office/drawing/2014/main" id="{1F99449A-51D6-4CE2-A8F1-057B292B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728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0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rPr>
              <a:t>耶路撒冷 GPS 出行轨迹 + 建筑物 GIS 数据</a:t>
            </a:r>
          </a:p>
        </p:txBody>
      </p:sp>
      <p:sp>
        <p:nvSpPr>
          <p:cNvPr id="9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FA2843A4-77CF-47DE-B39D-F82D7746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00375"/>
            <a:ext cx="2857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D9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步骤2框">
            <a:extLst xmlns:a="http://schemas.openxmlformats.org/drawingml/2006/main">
              <a:ext uri="{FF2B5EF4-FFF2-40B4-BE49-F238E27FC236}">
                <a16:creationId xmlns:a16="http://schemas.microsoft.com/office/drawing/2014/main" id="{48AB7E92-D6E0-4BFF-9D7D-2C8DBF13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95650"/>
            <a:ext cx="78867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2AAA7"/>
            </a:solidFill>
            <a:prstDash val="solid"/>
          </a:ln>
        </p:spPr>
      </p:sp>
      <p:sp>
        <p:nvSpPr>
          <p:cNvPr id="11" name="步骤2标题背景">
            <a:extLst xmlns:a="http://schemas.openxmlformats.org/drawingml/2006/main">
              <a:ext uri="{FF2B5EF4-FFF2-40B4-BE49-F238E27FC236}">
                <a16:creationId xmlns:a16="http://schemas.microsoft.com/office/drawing/2014/main" id="{68E2962F-C390-4FA5-971B-152E1949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314700"/>
            <a:ext cx="7848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步骤2编号">
            <a:extLst xmlns:a="http://schemas.openxmlformats.org/drawingml/2006/main">
              <a:ext uri="{FF2B5EF4-FFF2-40B4-BE49-F238E27FC236}">
                <a16:creationId xmlns:a16="http://schemas.microsoft.com/office/drawing/2014/main" id="{77267366-FE09-48FC-931C-46B9D206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4194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步骤2编号文字">
            <a:extLst xmlns:a="http://schemas.openxmlformats.org/drawingml/2006/main">
              <a:ext uri="{FF2B5EF4-FFF2-40B4-BE49-F238E27FC236}">
                <a16:creationId xmlns:a16="http://schemas.microsoft.com/office/drawing/2014/main" id="{E717CA20-E0BA-4F01-97D4-E03631B9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步骤2标题">
            <a:extLst xmlns:a="http://schemas.openxmlformats.org/drawingml/2006/main">
              <a:ext uri="{FF2B5EF4-FFF2-40B4-BE49-F238E27FC236}">
                <a16:creationId xmlns:a16="http://schemas.microsoft.com/office/drawing/2014/main" id="{C2111CEB-C188-432A-AD12-5DD14E35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419475"/>
            <a:ext cx="6886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rPr>
              <a:t>特征矩阵与建筑转移矩阵</a:t>
            </a:r>
          </a:p>
        </p:txBody>
      </p:sp>
      <p:sp>
        <p:nvSpPr>
          <p:cNvPr id="15" name="特征矩阵标题">
            <a:extLst xmlns:a="http://schemas.openxmlformats.org/drawingml/2006/main">
              <a:ext uri="{FF2B5EF4-FFF2-40B4-BE49-F238E27FC236}">
                <a16:creationId xmlns:a16="http://schemas.microsoft.com/office/drawing/2014/main" id="{C8D53FD2-FF03-419B-B648-3738566D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3343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>
                <a:solidFill>
                  <a:srgbClr val="278E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78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78E8C"/>
                </a:solidFill>
                <a:latin typeface="Microsoft YaHei"/>
                <a:ea typeface="Microsoft YaHei"/>
                <a:cs typeface="Microsoft YaHei"/>
              </a:rPr>
              <a:t>特征矩阵 F</a:t>
            </a:r>
          </a:p>
        </p:txBody>
      </p:sp>
      <p:sp>
        <p:nvSpPr>
          <p:cNvPr id="16" name="特征矩阵说明">
            <a:extLst xmlns:a="http://schemas.openxmlformats.org/drawingml/2006/main">
              <a:ext uri="{FF2B5EF4-FFF2-40B4-BE49-F238E27FC236}">
                <a16:creationId xmlns:a16="http://schemas.microsoft.com/office/drawing/2014/main" id="{49691805-BE4F-4EE1-ADEF-0827EC53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3400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rPr>
              <a:t>按建筑属性分组，传播访问</a:t>
            </a:r>
          </a:p>
          <a:p xmlns:a="http://schemas.openxmlformats.org/drawingml/2006/main">
            <a:pPr algn="l">
              <a:defRPr sz="1950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rPr>
              <a:t>信息至未观测建筑</a:t>
            </a:r>
          </a:p>
        </p:txBody>
      </p:sp>
      <p:sp>
        <p:nvSpPr>
          <p:cNvPr id="17" name="矩阵分隔线">
            <a:extLst xmlns:a="http://schemas.openxmlformats.org/drawingml/2006/main">
              <a:ext uri="{FF2B5EF4-FFF2-40B4-BE49-F238E27FC236}">
                <a16:creationId xmlns:a16="http://schemas.microsoft.com/office/drawing/2014/main" id="{CA2CF35A-3F69-4FD6-9A33-FBEC8BA5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95750"/>
            <a:ext cx="19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转移矩阵标题">
            <a:extLst xmlns:a="http://schemas.openxmlformats.org/drawingml/2006/main">
              <a:ext uri="{FF2B5EF4-FFF2-40B4-BE49-F238E27FC236}">
                <a16:creationId xmlns:a16="http://schemas.microsoft.com/office/drawing/2014/main" id="{3F0A8736-C905-4116-A46C-51862B3D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767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>
                <a:solidFill>
                  <a:srgbClr val="278E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78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78E8C"/>
                </a:solidFill>
                <a:latin typeface="Microsoft YaHei"/>
                <a:ea typeface="Microsoft YaHei"/>
                <a:cs typeface="Microsoft YaHei"/>
              </a:rPr>
              <a:t>转移矩阵 P</a:t>
            </a:r>
          </a:p>
        </p:txBody>
      </p:sp>
      <p:sp>
        <p:nvSpPr>
          <p:cNvPr id="19" name="转移矩阵说明">
            <a:extLst xmlns:a="http://schemas.openxmlformats.org/drawingml/2006/main">
              <a:ext uri="{FF2B5EF4-FFF2-40B4-BE49-F238E27FC236}">
                <a16:creationId xmlns:a16="http://schemas.microsoft.com/office/drawing/2014/main" id="{97560EDB-1258-4172-9FE5-ADEF822F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339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rPr>
              <a:t>依据距离与楼面面积构图</a:t>
            </a:r>
          </a:p>
          <a:p xmlns:a="http://schemas.openxmlformats.org/drawingml/2006/main">
            <a:pPr algn="l">
              <a:defRPr sz="1950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rPr>
              <a:t>筛选连接并归一化</a:t>
            </a:r>
          </a:p>
        </p:txBody>
      </p:sp>
      <p:sp>
        <p:nvSpPr>
          <p:cNvPr id="20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0104442A-BB32-4308-A593-A6B71E32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572125"/>
            <a:ext cx="2857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D9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步骤3框">
            <a:extLst xmlns:a="http://schemas.openxmlformats.org/drawingml/2006/main">
              <a:ext uri="{FF2B5EF4-FFF2-40B4-BE49-F238E27FC236}">
                <a16:creationId xmlns:a16="http://schemas.microsoft.com/office/drawing/2014/main" id="{BD435FA2-1799-4E02-8EFF-E938C68B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867400"/>
            <a:ext cx="7886700" cy="2371725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56CD1"/>
            </a:solidFill>
            <a:prstDash val="solid"/>
          </a:ln>
        </p:spPr>
      </p:sp>
      <p:sp>
        <p:nvSpPr>
          <p:cNvPr id="22" name="步骤3标题背景">
            <a:extLst xmlns:a="http://schemas.openxmlformats.org/drawingml/2006/main">
              <a:ext uri="{FF2B5EF4-FFF2-40B4-BE49-F238E27FC236}">
                <a16:creationId xmlns:a16="http://schemas.microsoft.com/office/drawing/2014/main" id="{AEA9B2D0-F102-438B-83FE-43A37898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86450"/>
            <a:ext cx="7848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步骤3编号">
            <a:extLst xmlns:a="http://schemas.openxmlformats.org/drawingml/2006/main">
              <a:ext uri="{FF2B5EF4-FFF2-40B4-BE49-F238E27FC236}">
                <a16:creationId xmlns:a16="http://schemas.microsoft.com/office/drawing/2014/main" id="{08E246CE-0CE8-48D5-B09A-86F1FB42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991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C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步骤3编号文字">
            <a:extLst xmlns:a="http://schemas.openxmlformats.org/drawingml/2006/main">
              <a:ext uri="{FF2B5EF4-FFF2-40B4-BE49-F238E27FC236}">
                <a16:creationId xmlns:a16="http://schemas.microsoft.com/office/drawing/2014/main" id="{6ACFBAD1-DB41-463A-9A59-B25E57B1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步骤3标题">
            <a:extLst xmlns:a="http://schemas.openxmlformats.org/drawingml/2006/main">
              <a:ext uri="{FF2B5EF4-FFF2-40B4-BE49-F238E27FC236}">
                <a16:creationId xmlns:a16="http://schemas.microsoft.com/office/drawing/2014/main" id="{08A7AA2B-DD8F-4525-B93B-244C29A4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991225"/>
            <a:ext cx="6886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rPr>
              <a:t>最大熵逆强化学习与奖励模型</a:t>
            </a:r>
          </a:p>
        </p:txBody>
      </p:sp>
      <p:sp>
        <p:nvSpPr>
          <p:cNvPr id="26" name="奖励模型说明">
            <a:extLst xmlns:a="http://schemas.openxmlformats.org/drawingml/2006/main">
              <a:ext uri="{FF2B5EF4-FFF2-40B4-BE49-F238E27FC236}">
                <a16:creationId xmlns:a16="http://schemas.microsoft.com/office/drawing/2014/main" id="{C040A7C2-059D-4343-B03C-B7EC0726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657975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rPr>
              <a:t>在同一 MaxEnt IRL 框架中比较四种奖励模型</a:t>
            </a:r>
          </a:p>
        </p:txBody>
      </p:sp>
      <p:sp>
        <p:nvSpPr>
          <p:cNvPr id="27" name="奖励模型-Linear">
            <a:extLst xmlns:a="http://schemas.openxmlformats.org/drawingml/2006/main">
              <a:ext uri="{FF2B5EF4-FFF2-40B4-BE49-F238E27FC236}">
                <a16:creationId xmlns:a16="http://schemas.microsoft.com/office/drawing/2014/main" id="{649CFF25-77EA-4CDB-893F-D27F1EDB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7162800"/>
            <a:ext cx="1685925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AF3FC"/>
          </a:solidFill>
          <a:ln xmlns:a="http://schemas.openxmlformats.org/drawingml/2006/main" w="9525">
            <a:solidFill>
              <a:srgbClr val="B9D7F0"/>
            </a:solidFill>
            <a:prstDash val="solid"/>
          </a:ln>
        </p:spPr>
      </p:sp>
      <p:sp>
        <p:nvSpPr>
          <p:cNvPr id="28" name="模型名称-Linear">
            <a:extLst xmlns:a="http://schemas.openxmlformats.org/drawingml/2006/main">
              <a:ext uri="{FF2B5EF4-FFF2-40B4-BE49-F238E27FC236}">
                <a16:creationId xmlns:a16="http://schemas.microsoft.com/office/drawing/2014/main" id="{47913D04-813A-4F7B-9AFC-935DE48A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19950"/>
            <a:ext cx="159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rPr>
              <a:t>Linear</a:t>
            </a:r>
          </a:p>
        </p:txBody>
      </p:sp>
      <p:sp>
        <p:nvSpPr>
          <p:cNvPr id="29" name="奖励模型-MLP">
            <a:extLst xmlns:a="http://schemas.openxmlformats.org/drawingml/2006/main">
              <a:ext uri="{FF2B5EF4-FFF2-40B4-BE49-F238E27FC236}">
                <a16:creationId xmlns:a16="http://schemas.microsoft.com/office/drawing/2014/main" id="{85CE865D-2145-4DC2-B207-AB7D9E58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7162800"/>
            <a:ext cx="1685925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AF3FC"/>
          </a:solidFill>
          <a:ln xmlns:a="http://schemas.openxmlformats.org/drawingml/2006/main" w="9525">
            <a:solidFill>
              <a:srgbClr val="B9D7F0"/>
            </a:solidFill>
            <a:prstDash val="solid"/>
          </a:ln>
        </p:spPr>
      </p:sp>
      <p:sp>
        <p:nvSpPr>
          <p:cNvPr id="30" name="模型名称-MLP">
            <a:extLst xmlns:a="http://schemas.openxmlformats.org/drawingml/2006/main">
              <a:ext uri="{FF2B5EF4-FFF2-40B4-BE49-F238E27FC236}">
                <a16:creationId xmlns:a16="http://schemas.microsoft.com/office/drawing/2014/main" id="{7092C94A-F8AD-4A0F-893E-D7ECB8EC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7219950"/>
            <a:ext cx="159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rPr>
              <a:t>MLP</a:t>
            </a:r>
          </a:p>
        </p:txBody>
      </p:sp>
      <p:sp>
        <p:nvSpPr>
          <p:cNvPr id="31" name="奖励模型-GCN">
            <a:extLst xmlns:a="http://schemas.openxmlformats.org/drawingml/2006/main">
              <a:ext uri="{FF2B5EF4-FFF2-40B4-BE49-F238E27FC236}">
                <a16:creationId xmlns:a16="http://schemas.microsoft.com/office/drawing/2014/main" id="{B8031F49-B122-4D98-A1E6-75FEF341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162800"/>
            <a:ext cx="1685925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C7BEEF"/>
            </a:solidFill>
            <a:prstDash val="solid"/>
          </a:ln>
        </p:spPr>
      </p:sp>
      <p:sp>
        <p:nvSpPr>
          <p:cNvPr id="32" name="模型名称-GCN">
            <a:extLst xmlns:a="http://schemas.openxmlformats.org/drawingml/2006/main">
              <a:ext uri="{FF2B5EF4-FFF2-40B4-BE49-F238E27FC236}">
                <a16:creationId xmlns:a16="http://schemas.microsoft.com/office/drawing/2014/main" id="{FB4FEB04-29CD-4BED-834B-C0DA4990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219950"/>
            <a:ext cx="159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rPr>
              <a:t>GCN</a:t>
            </a:r>
          </a:p>
        </p:txBody>
      </p:sp>
      <p:sp>
        <p:nvSpPr>
          <p:cNvPr id="33" name="奖励模型-GraphConv">
            <a:extLst xmlns:a="http://schemas.openxmlformats.org/drawingml/2006/main">
              <a:ext uri="{FF2B5EF4-FFF2-40B4-BE49-F238E27FC236}">
                <a16:creationId xmlns:a16="http://schemas.microsoft.com/office/drawing/2014/main" id="{19529D3D-4C6F-4DFA-B284-772F633E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7162800"/>
            <a:ext cx="1685925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C7BEEF"/>
            </a:solidFill>
            <a:prstDash val="solid"/>
          </a:ln>
        </p:spPr>
      </p:sp>
      <p:sp>
        <p:nvSpPr>
          <p:cNvPr id="34" name="模型名称-GraphConv">
            <a:extLst xmlns:a="http://schemas.openxmlformats.org/drawingml/2006/main">
              <a:ext uri="{FF2B5EF4-FFF2-40B4-BE49-F238E27FC236}">
                <a16:creationId xmlns:a16="http://schemas.microsoft.com/office/drawing/2014/main" id="{08EFB0A5-102C-4797-A473-48FCD19D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219950"/>
            <a:ext cx="159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rPr>
              <a:t>GraphConv</a:t>
            </a:r>
          </a:p>
        </p:txBody>
      </p:sp>
      <p:sp>
        <p:nvSpPr>
          <p:cNvPr id="35" name="IRL更新说明">
            <a:extLst xmlns:a="http://schemas.openxmlformats.org/drawingml/2006/main">
              <a:ext uri="{FF2B5EF4-FFF2-40B4-BE49-F238E27FC236}">
                <a16:creationId xmlns:a16="http://schemas.microsoft.com/office/drawing/2014/main" id="{B6D8E9F0-DF03-49EB-9B5E-C1350497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7772400"/>
            <a:ext cx="728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rPr>
              <a:t>匹配观测与模拟访问频率，迭代更新建筑奖励</a:t>
            </a:r>
          </a:p>
        </p:txBody>
      </p:sp>
      <p:sp>
        <p:nvSpPr>
          <p:cNvPr id="36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DD46FACD-E381-45C3-8AF8-4AC16D81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8305800"/>
            <a:ext cx="2857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56C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步骤4框">
            <a:extLst xmlns:a="http://schemas.openxmlformats.org/drawingml/2006/main">
              <a:ext uri="{FF2B5EF4-FFF2-40B4-BE49-F238E27FC236}">
                <a16:creationId xmlns:a16="http://schemas.microsoft.com/office/drawing/2014/main" id="{B89AF0F3-0BFF-439B-BBA8-7E93D57E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601075"/>
            <a:ext cx="78867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9ADE"/>
            </a:solidFill>
            <a:prstDash val="solid"/>
          </a:ln>
        </p:spPr>
      </p:sp>
      <p:sp>
        <p:nvSpPr>
          <p:cNvPr id="38" name="步骤4标题背景">
            <a:extLst xmlns:a="http://schemas.openxmlformats.org/drawingml/2006/main">
              <a:ext uri="{FF2B5EF4-FFF2-40B4-BE49-F238E27FC236}">
                <a16:creationId xmlns:a16="http://schemas.microsoft.com/office/drawing/2014/main" id="{7B166D65-4B74-48AE-AFBF-AB71B825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620125"/>
            <a:ext cx="7848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步骤4编号">
            <a:extLst xmlns:a="http://schemas.openxmlformats.org/drawingml/2006/main">
              <a:ext uri="{FF2B5EF4-FFF2-40B4-BE49-F238E27FC236}">
                <a16:creationId xmlns:a16="http://schemas.microsoft.com/office/drawing/2014/main" id="{D31D2F0C-5386-4C2C-A10F-18E9C2B6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8724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9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步骤4编号文字">
            <a:extLst xmlns:a="http://schemas.openxmlformats.org/drawingml/2006/main">
              <a:ext uri="{FF2B5EF4-FFF2-40B4-BE49-F238E27FC236}">
                <a16:creationId xmlns:a16="http://schemas.microsoft.com/office/drawing/2014/main" id="{51FE9C70-8F8F-43D8-B10D-D751F9F6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344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1" name="步骤4标题">
            <a:extLst xmlns:a="http://schemas.openxmlformats.org/drawingml/2006/main">
              <a:ext uri="{FF2B5EF4-FFF2-40B4-BE49-F238E27FC236}">
                <a16:creationId xmlns:a16="http://schemas.microsoft.com/office/drawing/2014/main" id="{098D60C9-D083-463A-A433-1C1306AA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8724900"/>
            <a:ext cx="6886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rPr>
              <a:t>奖励与生成策略</a:t>
            </a:r>
          </a:p>
        </p:txBody>
      </p:sp>
      <p:sp>
        <p:nvSpPr>
          <p:cNvPr id="42" name="生成策略说明">
            <a:extLst xmlns:a="http://schemas.openxmlformats.org/drawingml/2006/main">
              <a:ext uri="{FF2B5EF4-FFF2-40B4-BE49-F238E27FC236}">
                <a16:creationId xmlns:a16="http://schemas.microsoft.com/office/drawing/2014/main" id="{F3122D67-EDFB-4DC1-9824-02E07500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82125"/>
            <a:ext cx="736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rPr>
              <a:t>学习到的建筑奖励结合转移矩阵，形成采样策略</a:t>
            </a:r>
          </a:p>
        </p:txBody>
      </p:sp>
      <p:sp>
        <p:nvSpPr>
          <p:cNvPr id="43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33BE0069-A81E-4F2E-818D-0544EBC8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0048875"/>
            <a:ext cx="2857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D9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步骤5框">
            <a:extLst xmlns:a="http://schemas.openxmlformats.org/drawingml/2006/main">
              <a:ext uri="{FF2B5EF4-FFF2-40B4-BE49-F238E27FC236}">
                <a16:creationId xmlns:a16="http://schemas.microsoft.com/office/drawing/2014/main" id="{8334D0F9-9DFA-438E-A921-70221E31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44150"/>
            <a:ext cx="7886700" cy="1819275"/>
          </a:xfrm>
          <a:prstGeom xmlns:a="http://schemas.openxmlformats.org/drawingml/2006/main" prst="roundRect">
            <a:avLst>
              <a:gd name="adj" fmla="val 4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2AAA7"/>
            </a:solidFill>
            <a:prstDash val="solid"/>
          </a:ln>
        </p:spPr>
      </p:sp>
      <p:sp>
        <p:nvSpPr>
          <p:cNvPr id="45" name="步骤5标题背景">
            <a:extLst xmlns:a="http://schemas.openxmlformats.org/drawingml/2006/main">
              <a:ext uri="{FF2B5EF4-FFF2-40B4-BE49-F238E27FC236}">
                <a16:creationId xmlns:a16="http://schemas.microsoft.com/office/drawing/2014/main" id="{4F614194-38C2-4109-BF8F-B63CCE68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363200"/>
            <a:ext cx="7848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步骤5编号">
            <a:extLst xmlns:a="http://schemas.openxmlformats.org/drawingml/2006/main">
              <a:ext uri="{FF2B5EF4-FFF2-40B4-BE49-F238E27FC236}">
                <a16:creationId xmlns:a16="http://schemas.microsoft.com/office/drawing/2014/main" id="{A670A331-7603-40DB-9F68-328DABDF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4679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步骤5编号文字">
            <a:extLst xmlns:a="http://schemas.openxmlformats.org/drawingml/2006/main">
              <a:ext uri="{FF2B5EF4-FFF2-40B4-BE49-F238E27FC236}">
                <a16:creationId xmlns:a16="http://schemas.microsoft.com/office/drawing/2014/main" id="{7D56BBCD-E1EF-42BA-A3AC-C7C8ED92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477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8" name="步骤5标题">
            <a:extLst xmlns:a="http://schemas.openxmlformats.org/drawingml/2006/main">
              <a:ext uri="{FF2B5EF4-FFF2-40B4-BE49-F238E27FC236}">
                <a16:creationId xmlns:a16="http://schemas.microsoft.com/office/drawing/2014/main" id="{2CB8A98F-0A18-4927-ACBB-D049D927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0467975"/>
            <a:ext cx="6886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rPr>
              <a:t>轨迹生成与实验评估</a:t>
            </a:r>
          </a:p>
        </p:txBody>
      </p:sp>
      <p:sp>
        <p:nvSpPr>
          <p:cNvPr id="49" name="生成说明">
            <a:extLst xmlns:a="http://schemas.openxmlformats.org/drawingml/2006/main">
              <a:ext uri="{FF2B5EF4-FFF2-40B4-BE49-F238E27FC236}">
                <a16:creationId xmlns:a16="http://schemas.microsoft.com/office/drawing/2014/main" id="{A0EFB32F-91DC-4F1A-9600-46BA6673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1567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94D77"/>
                </a:solidFill>
                <a:latin typeface="Microsoft YaHei"/>
                <a:ea typeface="Microsoft YaHei"/>
                <a:cs typeface="Microsoft YaHei"/>
              </a:rPr>
              <a:t>设置起终点，用生存概率控制轨迹长度并采样</a:t>
            </a:r>
          </a:p>
        </p:txBody>
      </p:sp>
      <p:sp>
        <p:nvSpPr>
          <p:cNvPr id="50" name="评估说明">
            <a:extLst xmlns:a="http://schemas.openxmlformats.org/drawingml/2006/main">
              <a:ext uri="{FF2B5EF4-FFF2-40B4-BE49-F238E27FC236}">
                <a16:creationId xmlns:a16="http://schemas.microsoft.com/office/drawing/2014/main" id="{D0C891BA-DCE0-4E6E-9D40-2CABA3C7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014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rPr>
              <a:t>比较出行距离、访问建筑数、活动范围及流动结构</a:t>
            </a:r>
          </a:p>
        </p:txBody>
      </p:sp>
      <p:sp>
        <p:nvSpPr>
          <p:cNvPr id="51" name="当前学习进度框">
            <a:extLst xmlns:a="http://schemas.openxmlformats.org/drawingml/2006/main">
              <a:ext uri="{FF2B5EF4-FFF2-40B4-BE49-F238E27FC236}">
                <a16:creationId xmlns:a16="http://schemas.microsoft.com/office/drawing/2014/main" id="{09E7A144-B112-4DA6-B0CD-572D069C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439650"/>
            <a:ext cx="78867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9050">
            <a:solidFill>
              <a:srgbClr val="E5B969"/>
            </a:solidFill>
            <a:prstDash val="solid"/>
          </a:ln>
        </p:spPr>
      </p:sp>
      <p:sp>
        <p:nvSpPr>
          <p:cNvPr id="52" name="当前学习进度标题">
            <a:extLst xmlns:a="http://schemas.openxmlformats.org/drawingml/2006/main">
              <a:ext uri="{FF2B5EF4-FFF2-40B4-BE49-F238E27FC236}">
                <a16:creationId xmlns:a16="http://schemas.microsoft.com/office/drawing/2014/main" id="{96A3DC53-9ABA-4E4F-BBE1-D1FF747D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6111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>
                <a:solidFill>
                  <a:srgbClr val="94621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9462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4621E"/>
                </a:solidFill>
                <a:latin typeface="Microsoft YaHei"/>
                <a:ea typeface="Microsoft YaHei"/>
                <a:cs typeface="Microsoft YaHei"/>
              </a:rPr>
              <a:t>当前学习位置：第③步的基础准备（G03）</a:t>
            </a:r>
          </a:p>
        </p:txBody>
      </p:sp>
      <p:sp>
        <p:nvSpPr>
          <p:cNvPr id="53" name="完成情况">
            <a:extLst xmlns:a="http://schemas.openxmlformats.org/drawingml/2006/main">
              <a:ext uri="{FF2B5EF4-FFF2-40B4-BE49-F238E27FC236}">
                <a16:creationId xmlns:a16="http://schemas.microsoft.com/office/drawing/2014/main" id="{97C77806-0390-4204-9065-49B03BF6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125450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rPr>
              <a:t>已完成环境搭建、MDP 与 Bellman 基础实验</a:t>
            </a:r>
          </a:p>
        </p:txBody>
      </p:sp>
      <p:sp>
        <p:nvSpPr>
          <p:cNvPr id="54" name="待完成情况">
            <a:extLst xmlns:a="http://schemas.openxmlformats.org/drawingml/2006/main">
              <a:ext uri="{FF2B5EF4-FFF2-40B4-BE49-F238E27FC236}">
                <a16:creationId xmlns:a16="http://schemas.microsoft.com/office/drawing/2014/main" id="{323EACDD-417D-4B22-AD10-EB3C5FCF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49692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96579"/>
                </a:solidFill>
                <a:latin typeface="Microsoft YaHei"/>
                <a:ea typeface="Microsoft YaHei"/>
                <a:cs typeface="Microsoft YaHei"/>
              </a:rPr>
              <a:t>正在实现软策略，尚未正式训练 IRL 或生成轨迹</a:t>
            </a:r>
          </a:p>
        </p:txBody>
      </p:sp>
    </p:spTree>
    <p:extLst>
      <p:ext uri="{BB962C8B-B14F-4D97-AF65-F5344CB8AC3E}">
        <p14:creationId xmlns:p14="http://schemas.microsoft.com/office/powerpoint/2010/main" val="1537788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2026-10-12T07:27:14.8850000Z</dcterms:created>
  <dcterms:modified xsi:type="dcterms:W3CDTF">2026-10-12T07:27:14.8850000Z</dcterms:modified>
</coreProperties>
</file>