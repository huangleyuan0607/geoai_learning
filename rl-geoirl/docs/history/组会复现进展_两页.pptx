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来源：D:/CCNU/PreLearning_Plan/GeoAI-Learning/rl-geoirl/thirdparty/reproduce/G02_CMaxent_SVI_Test.py、G03_CMaxent_LCAP_Test.py、G04_CMaxent_ESFP_Test.py、CMaxent_Test.py。2026-10-12重新运行确认。</a:t>
            </a:r>
          </a:p>
          <a:p>
            <a:r>
              <a:t>价值测试使用2状态2动作的三维转移张量，与官方主notebook二维输入有区别。访问频率测试使用列向量适配版，尚未完整验证其数学解释。G05的误差指标从0到0，不能宣称模型已经收敛。本页综合训练指CMaxent_Test.py的四状态10轮测试，确认参数更新，误差仅轻微变化。输出节选是实际终端输出的文字摘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D:/CCNU/PreLearning_Plan/GeoAI-Learning/rl-geoirl/thirdparty/reproduce/Transition_Test.py；图：D:/CCNU/PreLearning_Plan/GeoAI-Learning/rl-geoirl/thirdparty/reproduce/test_plots/real_connectivity_gravity.png。读取建筑CSV38991条记录，所需字段去缺失后38042条，随机抽取300栋，seed=42。simple_gravity矩阵行和为1、对角为0。get_transition density=0.3，27000个非零元素，阻尼后行和约0.4850—0.4979，因此未声称阻尼矩阵行和为1。连接图表示模型连接关系，不表示真实观测出行。随机土地利用热力图未用于本页。</a:t>
            </a:r>
          </a:p>
          <a:p>
            <a:r>
              <a:t>视觉参考：C:/Users/huangleyuan/Desktop/黄乐源20261012 .pptx，第16页。保留青色标题风格并复用原学位帽图标，文字字体选择Microsoft YaHei。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2C175CD-FDCD-44C2-9E7C-24B621E70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72C67D3-4C84-4B09-B62C-3E5DA99A5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AFA5015-32DC-4EE7-ADD1-B407D59A3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A3542F3-4579-4B6B-84E7-EC6FE34C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372392D-8A49-41DA-861A-199015CAD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8D814B-BF4F-4821-9FB4-73D11BC5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577145-66F2-44E6-9950-959421E62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2629CCA-8204-4129-8949-37283D9CAB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B728AF9-DB1E-4154-887B-1153BA74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1D634BA-A1C8-498D-AD11-9C76B16FF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原版青色标题条">
            <a:extLst>
              <a:ext uri="{FF2B5EF4-FFF2-40B4-BE49-F238E27FC236}">
                <a16:creationId xmlns:a16="http://schemas.microsoft.com/office/drawing/2014/main" id="{42736902-F85A-4B6B-BC75-750F9647CF6B}"/>
              </a:ext>
            </a:extLst>
          </p:cNvPr>
          <p:cNvSpPr>
            <a:spLocks noGrp="1"/>
          </p:cNvSpPr>
          <p:nvPr/>
        </p:nvSpPr>
        <p:spPr>
          <a:xfrm>
            <a:off x="400050" y="485775"/>
            <a:ext cx="4514850" cy="781050"/>
          </a:xfrm>
          <a:prstGeom prst="roundRect">
            <a:avLst>
              <a:gd name="adj" fmla="val 9756"/>
            </a:avLst>
          </a:prstGeom>
          <a:solidFill>
            <a:srgbClr val="00617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D33674-02C3-4CD1-870A-6335D5C13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" y="571500"/>
            <a:ext cx="619125" cy="619125"/>
          </a:xfrm>
          <a:prstGeom prst="rect">
            <a:avLst/>
          </a:prstGeom>
        </p:spPr>
      </p:pic>
      <p:sp>
        <p:nvSpPr>
          <p:cNvPr id="3" name="章节标题">
            <a:extLst>
              <a:ext uri="{FF2B5EF4-FFF2-40B4-BE49-F238E27FC236}">
                <a16:creationId xmlns:a16="http://schemas.microsoft.com/office/drawing/2014/main" id="{B72B835F-068B-4110-80CB-FBCD4DB88B82}"/>
              </a:ext>
            </a:extLst>
          </p:cNvPr>
          <p:cNvSpPr>
            <a:spLocks noGrp="1"/>
          </p:cNvSpPr>
          <p:nvPr/>
        </p:nvSpPr>
        <p:spPr>
          <a:xfrm>
            <a:off x="1438275" y="733425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4.3 当前复现进展</a:t>
            </a:r>
          </a:p>
        </p:txBody>
      </p:sp>
      <p:sp>
        <p:nvSpPr>
          <p:cNvPr id="4" name="页面主题">
            <a:extLst>
              <a:ext uri="{FF2B5EF4-FFF2-40B4-BE49-F238E27FC236}">
                <a16:creationId xmlns:a16="http://schemas.microsoft.com/office/drawing/2014/main" id="{6954573B-C013-4422-AC68-14B6036785E0}"/>
              </a:ext>
            </a:extLst>
          </p:cNvPr>
          <p:cNvSpPr>
            <a:spLocks noGrp="1"/>
          </p:cNvSpPr>
          <p:nvPr/>
        </p:nvSpPr>
        <p:spPr>
          <a:xfrm>
            <a:off x="5324475" y="752475"/>
            <a:ext cx="628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rPr>
              <a:t>核心算法的小规模验证</a:t>
            </a:r>
          </a:p>
        </p:txBody>
      </p:sp>
      <p:sp>
        <p:nvSpPr>
          <p:cNvPr id="5" name="核心进度">
            <a:extLst>
              <a:ext uri="{FF2B5EF4-FFF2-40B4-BE49-F238E27FC236}">
                <a16:creationId xmlns:a16="http://schemas.microsoft.com/office/drawing/2014/main" id="{34E409E9-08FA-4193-A474-E4C831CAC15E}"/>
              </a:ext>
            </a:extLst>
          </p:cNvPr>
          <p:cNvSpPr>
            <a:spLocks noGrp="1"/>
          </p:cNvSpPr>
          <p:nvPr/>
        </p:nvSpPr>
        <p:spPr>
          <a:xfrm>
            <a:off x="504825" y="1562101"/>
            <a:ext cx="11191875" cy="3659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latin typeface="Microsoft YaHei"/>
                <a:ea typeface="Microsoft YaHei"/>
                <a:cs typeface="Microsoft YaHei"/>
              </a:rPr>
              <a:t>已完成四个核心函数的小规模功能测试，初步跑通奖励预测、策略计算、访问频率与参数更新闭环。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C913B-78A3-457D-93B8-CA690F644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239403"/>
              </p:ext>
            </p:extLst>
          </p:nvPr>
        </p:nvGraphicFramePr>
        <p:xfrm>
          <a:off x="508812" y="2147112"/>
          <a:ext cx="11201400" cy="26479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006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验证内容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006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>
                      <a:solidFill>
                        <a:srgbClr val="FFFFFF"/>
                      </a:solidFill>
                      <a:prstDash val="soli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0061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价值计算</a:t>
                      </a:r>
                    </a:p>
                  </a:txBody>
                  <a:tcPr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与手推结果比较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[8.1817, 9.9999]，符合理论参考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软策略</a:t>
                      </a:r>
                    </a:p>
                  </a:txBody>
                  <a:tcPr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检查输出与动作偏好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输出有效，偏向高价值方向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访问频率</a:t>
                      </a:r>
                    </a:p>
                  </a:txBody>
                  <a:tcPr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检查迭代输出与收敛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测试版得到 [1, 0.5, 0.3333]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IRL 训练</a:t>
                      </a:r>
                    </a:p>
                  </a:txBody>
                  <a:tcPr anchor="ctr">
                    <a:lnL w="11430">
                      <a:solidFill>
                        <a:srgbClr val="FFFFFF"/>
                      </a:solidFill>
                      <a:prstDash val="soli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检查完整计算与参数更新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8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综合测试运行 10 轮，模型参数更新</a:t>
                      </a:r>
                    </a:p>
                  </a:txBody>
                  <a:tcPr anchor="ctr">
                    <a:lnL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>
                      <a:solidFill>
                        <a:srgbClr val="FFFFFF"/>
                      </a:solidFill>
                      <a:prstDash val="soli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82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原版青色标题条">
            <a:extLst>
              <a:ext uri="{FF2B5EF4-FFF2-40B4-BE49-F238E27FC236}">
                <a16:creationId xmlns:a16="http://schemas.microsoft.com/office/drawing/2014/main" id="{B2D31009-D44E-462F-AD17-5B3A1C5425F8}"/>
              </a:ext>
            </a:extLst>
          </p:cNvPr>
          <p:cNvSpPr>
            <a:spLocks noGrp="1"/>
          </p:cNvSpPr>
          <p:nvPr/>
        </p:nvSpPr>
        <p:spPr>
          <a:xfrm>
            <a:off x="400050" y="485775"/>
            <a:ext cx="4514850" cy="781050"/>
          </a:xfrm>
          <a:prstGeom prst="roundRect">
            <a:avLst>
              <a:gd name="adj" fmla="val 9756"/>
            </a:avLst>
          </a:prstGeom>
          <a:solidFill>
            <a:srgbClr val="00617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DAC3930-3E76-449D-B073-EA714DB43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" y="571500"/>
            <a:ext cx="619125" cy="619125"/>
          </a:xfrm>
          <a:prstGeom prst="rect">
            <a:avLst/>
          </a:prstGeom>
        </p:spPr>
      </p:pic>
      <p:sp>
        <p:nvSpPr>
          <p:cNvPr id="3" name="章节标题">
            <a:extLst>
              <a:ext uri="{FF2B5EF4-FFF2-40B4-BE49-F238E27FC236}">
                <a16:creationId xmlns:a16="http://schemas.microsoft.com/office/drawing/2014/main" id="{4ACE73B2-6EB2-44A6-99C4-A685D75465FD}"/>
              </a:ext>
            </a:extLst>
          </p:cNvPr>
          <p:cNvSpPr>
            <a:spLocks noGrp="1"/>
          </p:cNvSpPr>
          <p:nvPr/>
        </p:nvSpPr>
        <p:spPr>
          <a:xfrm>
            <a:off x="1438275" y="733425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4.3 当前复现进展</a:t>
            </a:r>
          </a:p>
        </p:txBody>
      </p:sp>
      <p:sp>
        <p:nvSpPr>
          <p:cNvPr id="4" name="页面主题">
            <a:extLst>
              <a:ext uri="{FF2B5EF4-FFF2-40B4-BE49-F238E27FC236}">
                <a16:creationId xmlns:a16="http://schemas.microsoft.com/office/drawing/2014/main" id="{C8A7829D-0F2E-4729-8F24-E5BC482ECE5C}"/>
              </a:ext>
            </a:extLst>
          </p:cNvPr>
          <p:cNvSpPr>
            <a:spLocks noGrp="1"/>
          </p:cNvSpPr>
          <p:nvPr/>
        </p:nvSpPr>
        <p:spPr>
          <a:xfrm>
            <a:off x="5010150" y="544268"/>
            <a:ext cx="7129795" cy="721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325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325" b="1">
                <a:solidFill>
                  <a:srgbClr val="006171"/>
                </a:solidFill>
                <a:latin typeface="Microsoft YaHei"/>
              </a:rPr>
              <a:t>transitions.py真实建筑数据</a:t>
            </a:r>
            <a:endParaRPr lang="en-US" altLang="zh-CN" sz="2325" b="1">
              <a:solidFill>
                <a:srgbClr val="006171"/>
              </a:solidFill>
              <a:latin typeface="Microsoft YaHei"/>
            </a:endParaRPr>
          </a:p>
          <a:p>
            <a:pPr algn="ctr">
              <a:defRPr sz="2325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325" b="1">
                <a:solidFill>
                  <a:srgbClr val="006171"/>
                </a:solidFill>
                <a:latin typeface="Microsoft YaHei"/>
              </a:rPr>
              <a:t>与转移矩阵的</a:t>
            </a:r>
            <a:r>
              <a:rPr lang="zh-CN" altLang="en-US" sz="2325" b="1">
                <a:solidFill>
                  <a:srgbClr val="006171"/>
                </a:solidFill>
                <a:latin typeface="Microsoft YaHei"/>
              </a:rPr>
              <a:t>小规</a:t>
            </a:r>
            <a:r>
              <a:rPr lang="zh-CN" altLang="zh-CN" sz="2325" b="1">
                <a:solidFill>
                  <a:srgbClr val="006171"/>
                </a:solidFill>
                <a:latin typeface="Microsoft YaHei"/>
              </a:rPr>
              <a:t>模验证</a:t>
            </a:r>
            <a:endParaRPr sz="2325" b="1">
              <a:solidFill>
                <a:srgbClr val="00617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4FC1A5-D342-41A8-BAF3-0310890FCE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60" r="8029" b="8222"/>
          <a:stretch>
            <a:fillRect/>
          </a:stretch>
        </p:blipFill>
        <p:spPr>
          <a:xfrm>
            <a:off x="1635198" y="1409700"/>
            <a:ext cx="3982780" cy="4471406"/>
          </a:xfrm>
          <a:prstGeom prst="rect">
            <a:avLst/>
          </a:prstGeom>
        </p:spPr>
      </p:pic>
      <p:sp>
        <p:nvSpPr>
          <p:cNvPr id="6" name="图片说明">
            <a:extLst>
              <a:ext uri="{FF2B5EF4-FFF2-40B4-BE49-F238E27FC236}">
                <a16:creationId xmlns:a16="http://schemas.microsoft.com/office/drawing/2014/main" id="{7B103E2B-F70A-42F2-AB8F-CCB00798674E}"/>
              </a:ext>
            </a:extLst>
          </p:cNvPr>
          <p:cNvSpPr>
            <a:spLocks noGrp="1"/>
          </p:cNvSpPr>
          <p:nvPr/>
        </p:nvSpPr>
        <p:spPr>
          <a:xfrm>
            <a:off x="721463" y="6045703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rPr>
              <a:t>300 栋真实建筑的重力模型连接图</a:t>
            </a:r>
          </a:p>
        </p:txBody>
      </p:sp>
      <p:sp>
        <p:nvSpPr>
          <p:cNvPr id="7" name="数据标题">
            <a:extLst>
              <a:ext uri="{FF2B5EF4-FFF2-40B4-BE49-F238E27FC236}">
                <a16:creationId xmlns:a16="http://schemas.microsoft.com/office/drawing/2014/main" id="{CEA64271-7851-47F1-AB6D-AD264EA6F354}"/>
              </a:ext>
            </a:extLst>
          </p:cNvPr>
          <p:cNvSpPr>
            <a:spLocks noGrp="1"/>
          </p:cNvSpPr>
          <p:nvPr/>
        </p:nvSpPr>
        <p:spPr>
          <a:xfrm>
            <a:off x="7181850" y="1638300"/>
            <a:ext cx="4514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8" name="数据说明">
            <a:extLst>
              <a:ext uri="{FF2B5EF4-FFF2-40B4-BE49-F238E27FC236}">
                <a16:creationId xmlns:a16="http://schemas.microsoft.com/office/drawing/2014/main" id="{8B087FBF-A5E8-4980-9469-4BF6825B6CEA}"/>
              </a:ext>
            </a:extLst>
          </p:cNvPr>
          <p:cNvSpPr>
            <a:spLocks noGrp="1"/>
          </p:cNvSpPr>
          <p:nvPr/>
        </p:nvSpPr>
        <p:spPr>
          <a:xfrm>
            <a:off x="7181850" y="2076450"/>
            <a:ext cx="4606112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读取耶路撒冷建筑数据</a:t>
            </a:r>
            <a:endParaRPr lang="en-US" sz="2000">
              <a:solidFill>
                <a:srgbClr val="24384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随机抽取 300 栋建筑</a:t>
            </a:r>
          </a:p>
        </p:txBody>
      </p:sp>
      <p:sp>
        <p:nvSpPr>
          <p:cNvPr id="9" name="验证标题">
            <a:extLst>
              <a:ext uri="{FF2B5EF4-FFF2-40B4-BE49-F238E27FC236}">
                <a16:creationId xmlns:a16="http://schemas.microsoft.com/office/drawing/2014/main" id="{95EC1D0A-1A68-4284-8C65-8B18FC9DE9CC}"/>
              </a:ext>
            </a:extLst>
          </p:cNvPr>
          <p:cNvSpPr>
            <a:spLocks noGrp="1"/>
          </p:cNvSpPr>
          <p:nvPr/>
        </p:nvSpPr>
        <p:spPr>
          <a:xfrm>
            <a:off x="7181850" y="3048000"/>
            <a:ext cx="4514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rPr>
              <a:t>矩阵验证</a:t>
            </a:r>
          </a:p>
        </p:txBody>
      </p:sp>
      <p:sp>
        <p:nvSpPr>
          <p:cNvPr id="10" name="验证说明">
            <a:extLst>
              <a:ext uri="{FF2B5EF4-FFF2-40B4-BE49-F238E27FC236}">
                <a16:creationId xmlns:a16="http://schemas.microsoft.com/office/drawing/2014/main" id="{125116D9-72D3-4FBA-B24B-5F50A95B5C6E}"/>
              </a:ext>
            </a:extLst>
          </p:cNvPr>
          <p:cNvSpPr>
            <a:spLocks noGrp="1"/>
          </p:cNvSpPr>
          <p:nvPr/>
        </p:nvSpPr>
        <p:spPr>
          <a:xfrm>
            <a:off x="7181850" y="3495676"/>
            <a:ext cx="4606112" cy="9416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构建 300 × 300 转移矩阵</a:t>
            </a:r>
          </a:p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重力矩阵行和为 1、对角为 0</a:t>
            </a:r>
          </a:p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完成连接筛选与归一化测试</a:t>
            </a:r>
          </a:p>
        </p:txBody>
      </p:sp>
      <p:sp>
        <p:nvSpPr>
          <p:cNvPr id="11" name="范围标题">
            <a:extLst>
              <a:ext uri="{FF2B5EF4-FFF2-40B4-BE49-F238E27FC236}">
                <a16:creationId xmlns:a16="http://schemas.microsoft.com/office/drawing/2014/main" id="{C7ADA61B-6F1A-4EFB-AB7C-4E46FB7F365B}"/>
              </a:ext>
            </a:extLst>
          </p:cNvPr>
          <p:cNvSpPr>
            <a:spLocks noGrp="1"/>
          </p:cNvSpPr>
          <p:nvPr/>
        </p:nvSpPr>
        <p:spPr>
          <a:xfrm>
            <a:off x="7181850" y="4829175"/>
            <a:ext cx="4514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171"/>
                </a:solidFill>
                <a:latin typeface="Microsoft YaHei"/>
                <a:ea typeface="Microsoft YaHei"/>
                <a:cs typeface="Microsoft YaHei"/>
              </a:rPr>
              <a:t>当前范围</a:t>
            </a:r>
          </a:p>
        </p:txBody>
      </p:sp>
      <p:sp>
        <p:nvSpPr>
          <p:cNvPr id="12" name="范围说明">
            <a:extLst>
              <a:ext uri="{FF2B5EF4-FFF2-40B4-BE49-F238E27FC236}">
                <a16:creationId xmlns:a16="http://schemas.microsoft.com/office/drawing/2014/main" id="{20B59482-73AA-4F65-818D-1FF7520160B1}"/>
              </a:ext>
            </a:extLst>
          </p:cNvPr>
          <p:cNvSpPr>
            <a:spLocks noGrp="1"/>
          </p:cNvSpPr>
          <p:nvPr/>
        </p:nvSpPr>
        <p:spPr>
          <a:xfrm>
            <a:off x="7181849" y="5248276"/>
            <a:ext cx="4606113" cy="60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已验证建筑连接构建</a:t>
            </a:r>
          </a:p>
          <a:p>
            <a:pPr>
              <a:defRPr sz="1875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但</a:t>
            </a:r>
            <a:r>
              <a:rPr sz="2000" b="0">
                <a:solidFill>
                  <a:srgbClr val="243844"/>
                </a:solidFill>
                <a:latin typeface="Microsoft YaHei"/>
                <a:ea typeface="Microsoft YaHei"/>
                <a:cs typeface="Microsoft YaHei"/>
              </a:rPr>
              <a:t>尚未完成真实数据奖励训练及轨迹生成</a:t>
            </a:r>
          </a:p>
        </p:txBody>
      </p:sp>
      <p:sp>
        <p:nvSpPr>
          <p:cNvPr id="13" name="图片范围注释">
            <a:extLst>
              <a:ext uri="{FF2B5EF4-FFF2-40B4-BE49-F238E27FC236}">
                <a16:creationId xmlns:a16="http://schemas.microsoft.com/office/drawing/2014/main" id="{D4090FED-796C-4A21-8FD3-2F7E3FF2E378}"/>
              </a:ext>
            </a:extLst>
          </p:cNvPr>
          <p:cNvSpPr>
            <a:spLocks noGrp="1"/>
          </p:cNvSpPr>
          <p:nvPr/>
        </p:nvSpPr>
        <p:spPr>
          <a:xfrm>
            <a:off x="292838" y="6476764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53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50" b="0">
                <a:solidFill>
                  <a:srgbClr val="53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latin typeface="Microsoft YaHei"/>
                <a:ea typeface="Microsoft YaHei"/>
                <a:cs typeface="Microsoft YaHei"/>
              </a:rPr>
              <a:t>连线表示模型连接权重；随机样本尚未对齐论文的 1,014 栋研究区建筑。</a:t>
            </a:r>
          </a:p>
        </p:txBody>
      </p:sp>
    </p:spTree>
    <p:extLst>
      <p:ext uri="{BB962C8B-B14F-4D97-AF65-F5344CB8AC3E}">
        <p14:creationId xmlns:p14="http://schemas.microsoft.com/office/powerpoint/2010/main" val="3362493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326</Words>
  <Application>Microsoft Office PowerPoint</Application>
  <DocSecurity>0</DocSecurity>
  <PresentationFormat>宽屏</PresentationFormat>
  <Paragraphs>37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Aptos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乐源 黄</cp:lastModifiedBy>
  <cp:revision>8</cp:revision>
  <dcterms:created xsi:type="dcterms:W3CDTF">2026-10-12T10:37:01Z</dcterms:created>
  <dcterms:modified xsi:type="dcterms:W3CDTF">2026-10-12T11:52:32Z</dcterms:modified>
</cp:coreProperties>
</file>